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51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Source Sans 3" panose="020B0604020202020204" charset="0"/>
      <p:regular r:id="rId17"/>
    </p:embeddedFont>
    <p:embeddedFont>
      <p:font typeface="Source Sans 3 Bold" panose="020B0604020202020204" charset="0"/>
      <p:regular r:id="rId18"/>
    </p:embeddedFont>
    <p:embeddedFont>
      <p:font typeface="Source Serif 4 SemiBol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1469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7BBA8-6FE6-CA3C-6DD5-365B9D7FF8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C4E224-29C3-A2B1-83E6-D54A61BACF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5CFB16-D3D6-8F6A-77CB-3EC0400D6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3839C-9056-4AE5-BE47-E1CF6A938D43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3ACF4F-55F9-4673-58D6-A3F09055B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06174-A7EF-F143-4A41-02B13B548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F0C86-CA64-4EAF-BF75-5674358104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554238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AA0BF-E962-9616-9443-69CA8C0E4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FBD25-7FFA-EDDA-B24E-903D143D43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9FC251-D157-8B20-47B4-8060D2446F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3839C-9056-4AE5-BE47-E1CF6A938D43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67DBB-4673-1C7D-AA37-D34F2D44C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D1235-561B-F495-6488-6F9CE93DB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F0C86-CA64-4EAF-BF75-5674358104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862988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1BBE0-C8D3-B2BC-E5C3-D89298103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3B634F-258D-9D51-BCAA-459FC1BF39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EF899D-5A65-7E83-ED30-85AB68436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3839C-9056-4AE5-BE47-E1CF6A938D43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7355EA-06FD-A0A3-25B9-B28C9C1EB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0ADCC1-F981-DC16-DFD7-683A4DC97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F0C86-CA64-4EAF-BF75-5674358104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352564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DD0C9-CFC7-7905-98F8-6BE54ACFB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D51E2-7741-DA04-03F6-F1560D5D6F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116AF1-99CA-6A4D-2FB2-58FEE0B2D6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F53FE3-284D-9B6C-FCF7-BFCA70F3E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3839C-9056-4AE5-BE47-E1CF6A938D43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2611F8-C83D-6C15-80AE-510706014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4BC58C-29E6-4741-54F6-7D63DAB6D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F0C86-CA64-4EAF-BF75-5674358104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40122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4DD52-7700-FCC7-C169-FAE069A00C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B878A6-A837-FA4D-872B-A84A1445E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767293-EFF7-3134-ACFC-4C9C844F70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B432AB-A4B3-5CE9-8526-4B7A0F6346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84095B-98BA-336A-A7FE-28611848AE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B81192-B582-7684-3020-0F60EB26F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3839C-9056-4AE5-BE47-E1CF6A938D43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42D9CE-E011-37D5-E747-C6E47364F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8F175E7-EED4-973F-8093-B8A52A8BD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F0C86-CA64-4EAF-BF75-5674358104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435385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7B3D8-0D6E-5CFF-A77E-51DB1BF6E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524400-77EC-C140-6A3F-74D20BDC92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3839C-9056-4AE5-BE47-E1CF6A938D43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DF549A-20DE-631F-D217-E0720D884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EA9905-B8F1-3B3F-D036-61D2DEC77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F0C86-CA64-4EAF-BF75-5674358104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159314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6929F0C-2E83-E111-14DF-EE5DF3AB0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3839C-9056-4AE5-BE47-E1CF6A938D43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A74D44-B502-488B-A278-E1A855453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945DA1-4518-0E5F-2BE4-1FC402252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F0C86-CA64-4EAF-BF75-5674358104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8557953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16426-D1C1-9801-7881-2DA7C4E8A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E9FB3-722E-C7CA-2578-FDB890C159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416F4B-9349-64E0-2B6D-701AFA5A90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12932E-DE41-8E99-8B8C-B42BDEC6D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3839C-9056-4AE5-BE47-E1CF6A938D43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A03FBD-96AC-2DC5-70A2-462614927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589607-3600-EB03-5A71-EE9BF00CB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F0C86-CA64-4EAF-BF75-5674358104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939185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01442-B584-1C31-320B-DFDD1C8AC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66E2B1B-38ED-1EC9-C549-F5EFEAE73B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6108BE-5CD1-9156-D2DE-92D8D170A8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832AB4-12B5-9FDB-E3F0-969A06E958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3839C-9056-4AE5-BE47-E1CF6A938D43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FD8F14-D2C4-A7AC-1A12-3F80A5CF33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DCD3AA-B2B9-23A2-9973-98D095416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F0C86-CA64-4EAF-BF75-5674358104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4087204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A30A3D-5B51-F0B8-F013-FE0B7ECC5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50D5F6-4512-C612-398F-9F1E2863CF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D3BCB1-0ED2-6DCE-22A4-BD50E94AC1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3839C-9056-4AE5-BE47-E1CF6A938D43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22E4DF-07D0-DA3F-F181-4192F4091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1FFC3E-FDA7-D85F-81C8-05EF47B60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F0C86-CA64-4EAF-BF75-5674358104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52187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EA21046-C8DA-CBF1-25D2-6629FC43E8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7A6F04-9F1D-EBBC-9B6A-46142755EA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DDCEBB-9D5E-198F-D8B6-93CAD8983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33839C-9056-4AE5-BE47-E1CF6A938D43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E59ED-5B48-E2EE-FCBE-EECECD571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27432A-67E9-18F8-B31D-615FF006C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F0C86-CA64-4EAF-BF75-5674358104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271281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46865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88730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EFDBD16-BEDE-59C5-20F4-D6B78B71F5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98B282-71DE-FF61-78CE-65BE9F0600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2BAB12-A4AA-581E-D157-2DD5CFBB43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33839C-9056-4AE5-BE47-E1CF6A938D43}" type="datetimeFigureOut">
              <a:rPr lang="en-IN" smtClean="0"/>
              <a:t>20-08-2026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B872CF-8B49-5984-28EB-9C69E3E843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1DBC6A-8B01-7121-ADAC-CDA26B4082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5F0C86-CA64-4EAF-BF75-5674358104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9968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2414488"/>
            <a:ext cx="6223638" cy="10265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kern="0" spc="-65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Hospital Patient Management System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5269971" y="3702745"/>
            <a:ext cx="6833223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kern="0" spc="-27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 Lightweight, C-Based Patient Record Management &amp; Automated Billing Solution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5269971" y="4178300"/>
            <a:ext cx="1883522" cy="265113"/>
          </a:xfrm>
          <a:prstGeom prst="roundRect">
            <a:avLst>
              <a:gd name="adj" fmla="val 22121"/>
            </a:avLst>
          </a:prstGeom>
          <a:solidFill>
            <a:srgbClr val="F4D4F7"/>
          </a:solidFill>
          <a:ln/>
        </p:spPr>
      </p:sp>
      <p:sp>
        <p:nvSpPr>
          <p:cNvPr id="6" name="Text 3"/>
          <p:cNvSpPr/>
          <p:nvPr/>
        </p:nvSpPr>
        <p:spPr>
          <a:xfrm>
            <a:off x="5374644" y="4230588"/>
            <a:ext cx="2283760" cy="1605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kern="0" spc="-27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MINI PROJECT PRESENTATION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728986"/>
            <a:ext cx="10795524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kern="0" spc="-65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Project Team &amp; Responsibilities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98086" y="2591296"/>
            <a:ext cx="11405108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kern="0" spc="-27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project was developed collaboratively by a team of four, with clearly defined roles across core development and quality assurance.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72379" y="3066852"/>
            <a:ext cx="5436258" cy="2062063"/>
          </a:xfrm>
          <a:prstGeom prst="roundRect">
            <a:avLst>
              <a:gd name="adj" fmla="val 6094"/>
            </a:avLst>
          </a:prstGeom>
          <a:solidFill>
            <a:srgbClr val="D75BE2">
              <a:alpha val="9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46900" y="3241377"/>
            <a:ext cx="5087215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32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Core Development Team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46900" y="3672582"/>
            <a:ext cx="5087215" cy="12992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200"/>
              </a:spcAft>
              <a:buNone/>
            </a:pPr>
            <a:r>
              <a:rPr lang="en-US" sz="1350" b="1" kern="0" spc="-27" dirty="0">
                <a:solidFill>
                  <a:srgbClr val="00000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Naren Karthick G &amp; Madhan Kumar Y</a:t>
            </a: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kern="0" spc="-27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Engineered core data structures (</a:t>
            </a:r>
            <a:r>
              <a:rPr lang="en-US" sz="1350" kern="0" spc="-27" dirty="0">
                <a:solidFill>
                  <a:srgbClr val="000000"/>
                </a:solidFill>
                <a:highlight>
                  <a:srgbClr val="CA4E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struct Patient</a:t>
            </a:r>
            <a:r>
              <a:rPr lang="en-US" sz="1350" kern="0" spc="-27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), file handling persistence (</a:t>
            </a:r>
            <a:r>
              <a:rPr lang="en-US" sz="1350" kern="0" spc="-27" dirty="0">
                <a:solidFill>
                  <a:srgbClr val="000000"/>
                </a:solidFill>
                <a:highlight>
                  <a:srgbClr val="CA4E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patients.txt</a:t>
            </a:r>
            <a:r>
              <a:rPr lang="en-US" sz="1350" kern="0" spc="-27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), memory allocation, and module integration for CLI operations.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315115" y="3241377"/>
            <a:ext cx="5184844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32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Analysis &amp; Quality Team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315115" y="3672582"/>
            <a:ext cx="5184844" cy="9946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200"/>
              </a:spcAft>
              <a:buNone/>
            </a:pPr>
            <a:r>
              <a:rPr lang="en-US" sz="1350" b="1" kern="0" spc="-27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Grascy Jennifer J R &amp; Keerthika B</a:t>
            </a: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kern="0" spc="-27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Designed the automated billing calculation engine, temp-file updating protocols, user validation routines, and system test scenarios.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8086" y="644029"/>
            <a:ext cx="6223638" cy="461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kern="0" spc="-58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Project Abstract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698086" y="1318022"/>
            <a:ext cx="6223638" cy="716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00" kern="0" spc="-25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Hospital Patient Management System replaces error-prone manual paper registers with an efficient, lightweight C console application — bringing digital recordkeeping to small and medium healthcare facilities.</a:t>
            </a:r>
            <a:endParaRPr lang="en-US" sz="12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086" y="2193230"/>
            <a:ext cx="392698" cy="39270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67488" y="2193230"/>
            <a:ext cx="5654236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kern="0" spc="-29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Digital Recordkeeping</a:t>
            </a:r>
            <a:endParaRPr lang="en-US" sz="1450" dirty="0"/>
          </a:p>
        </p:txBody>
      </p:sp>
      <p:sp>
        <p:nvSpPr>
          <p:cNvPr id="7" name="Text 3"/>
          <p:cNvSpPr/>
          <p:nvPr/>
        </p:nvSpPr>
        <p:spPr>
          <a:xfrm>
            <a:off x="1267488" y="2508945"/>
            <a:ext cx="5654236" cy="477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00" kern="0" spc="-25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Replaces manual paper-based hospital registers with an efficient C console application for streamlined patient data entry and retrieval.</a:t>
            </a:r>
            <a:endParaRPr lang="en-US" sz="12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8086" y="3269059"/>
            <a:ext cx="392698" cy="39270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67488" y="3269059"/>
            <a:ext cx="5654236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kern="0" spc="-29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Data Persistence</a:t>
            </a:r>
            <a:endParaRPr lang="en-US" sz="1450" dirty="0"/>
          </a:p>
        </p:txBody>
      </p:sp>
      <p:sp>
        <p:nvSpPr>
          <p:cNvPr id="10" name="Text 5"/>
          <p:cNvSpPr/>
          <p:nvPr/>
        </p:nvSpPr>
        <p:spPr>
          <a:xfrm>
            <a:off x="1267488" y="3584773"/>
            <a:ext cx="5654236" cy="477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00" kern="0" spc="-25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Utilises file I/O operations to securely store, retrieve, and update patient data across sessions using plain text files.</a:t>
            </a:r>
            <a:endParaRPr lang="en-US" sz="12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8086" y="4344888"/>
            <a:ext cx="392698" cy="39270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67488" y="4344888"/>
            <a:ext cx="5654236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kern="0" spc="-29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Automated Financials</a:t>
            </a:r>
            <a:endParaRPr lang="en-US" sz="1450" dirty="0"/>
          </a:p>
        </p:txBody>
      </p:sp>
      <p:sp>
        <p:nvSpPr>
          <p:cNvPr id="13" name="Text 7"/>
          <p:cNvSpPr/>
          <p:nvPr/>
        </p:nvSpPr>
        <p:spPr>
          <a:xfrm>
            <a:off x="1267488" y="4660602"/>
            <a:ext cx="5654236" cy="477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00" kern="0" spc="-25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Computes room stay charges and medication expenses with instant automated bill generation, eliminating manual calculation errors.</a:t>
            </a:r>
            <a:endParaRPr lang="en-US" sz="12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8086" y="5420717"/>
            <a:ext cx="392698" cy="39270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267488" y="5420717"/>
            <a:ext cx="5654236" cy="2309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kern="0" spc="-29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High Efficiency</a:t>
            </a:r>
            <a:endParaRPr lang="en-US" sz="1450" dirty="0"/>
          </a:p>
        </p:txBody>
      </p:sp>
      <p:sp>
        <p:nvSpPr>
          <p:cNvPr id="16" name="Text 9"/>
          <p:cNvSpPr/>
          <p:nvPr/>
        </p:nvSpPr>
        <p:spPr>
          <a:xfrm>
            <a:off x="1267488" y="5736431"/>
            <a:ext cx="5654236" cy="477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200" kern="0" spc="-25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Operates with lightweight text file processing for fast search and updates without any external database overhead.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245295"/>
            <a:ext cx="10795524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kern="0" spc="-65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Key Features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98086" y="2107605"/>
            <a:ext cx="11405108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kern="0" spc="-27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system offers four core features that cover the complete patient lifecycle — from admission to discharge and billing.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98086" y="2583160"/>
            <a:ext cx="5310452" cy="1560711"/>
          </a:xfrm>
          <a:prstGeom prst="roundRect">
            <a:avLst>
              <a:gd name="adj" fmla="val 4697"/>
            </a:avLst>
          </a:prstGeom>
          <a:solidFill>
            <a:srgbClr val="F4D4F7"/>
          </a:solidFill>
          <a:ln w="6350">
            <a:solidFill>
              <a:srgbClr val="DABAD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8957" y="2764036"/>
            <a:ext cx="4948709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32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Patient Admission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78957" y="3125391"/>
            <a:ext cx="4948709" cy="837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kern="0" spc="-27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Captures Patient ID, Name, Age, Disease, Room Number, Days Admitted, Daily Charges, and Medication Costs in a single structured record.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83059" y="2583160"/>
            <a:ext cx="5310551" cy="1560711"/>
          </a:xfrm>
          <a:prstGeom prst="roundRect">
            <a:avLst>
              <a:gd name="adj" fmla="val 4697"/>
            </a:avLst>
          </a:prstGeom>
          <a:solidFill>
            <a:srgbClr val="F4D4F7"/>
          </a:solidFill>
          <a:ln w="6350">
            <a:solidFill>
              <a:srgbClr val="DABA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63930" y="2764036"/>
            <a:ext cx="4948808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32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Quick Search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63930" y="3125391"/>
            <a:ext cx="4948808" cy="5711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kern="0" spc="-27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Retrieves specific patient information instantly using a unique Patient ID scanned over persistent records in </a:t>
            </a:r>
            <a:r>
              <a:rPr lang="en-US" sz="1350" kern="0" spc="-27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patients.txt</a:t>
            </a:r>
            <a:r>
              <a:rPr lang="en-US" sz="1350" kern="0" spc="-27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98086" y="4318397"/>
            <a:ext cx="5310452" cy="1294209"/>
          </a:xfrm>
          <a:prstGeom prst="roundRect">
            <a:avLst>
              <a:gd name="adj" fmla="val 5664"/>
            </a:avLst>
          </a:prstGeom>
          <a:solidFill>
            <a:srgbClr val="F4D4F7"/>
          </a:solidFill>
          <a:ln w="6350">
            <a:solidFill>
              <a:srgbClr val="DABAD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8957" y="4499273"/>
            <a:ext cx="4948709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32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Dynamic Updates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78957" y="4860627"/>
            <a:ext cx="4948709" cy="5711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kern="0" spc="-27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Updates existing patient files seamlessly using file staging (</a:t>
            </a:r>
            <a:r>
              <a:rPr lang="en-US" sz="1350" kern="0" spc="-27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temp.txt</a:t>
            </a:r>
            <a:r>
              <a:rPr lang="en-US" sz="1350" kern="0" spc="-27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) to preserve data integrity during modifications.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183059" y="4318397"/>
            <a:ext cx="5310551" cy="1294209"/>
          </a:xfrm>
          <a:prstGeom prst="roundRect">
            <a:avLst>
              <a:gd name="adj" fmla="val 5664"/>
            </a:avLst>
          </a:prstGeom>
          <a:solidFill>
            <a:srgbClr val="F4D4F7"/>
          </a:solidFill>
          <a:ln w="6350">
            <a:solidFill>
              <a:srgbClr val="DABA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63930" y="4499273"/>
            <a:ext cx="4948808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32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Instant Billing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63930" y="4860627"/>
            <a:ext cx="4948808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kern="0" spc="-27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Calculates total stay charges and medication expenses into a clean, formatted digital billing receipt in real time.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905966"/>
            <a:ext cx="10795524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kern="0" spc="-65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98086" y="1855490"/>
            <a:ext cx="5745912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32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Structured C Implementation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98086" y="2286695"/>
            <a:ext cx="5745912" cy="2162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200"/>
              </a:spcAft>
              <a:buNone/>
            </a:pPr>
            <a:r>
              <a:rPr lang="en-US" sz="1350" kern="0" spc="-27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system is built upon a modular execution model written in standard C programming language. It leverages composite data structures (</a:t>
            </a:r>
            <a:r>
              <a:rPr lang="en-US" sz="1350" kern="0" spc="-27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struct</a:t>
            </a:r>
            <a:r>
              <a:rPr lang="en-US" sz="1350" kern="0" spc="-27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) to represent patient entities and standard C libraries (</a:t>
            </a:r>
            <a:r>
              <a:rPr lang="en-US" sz="1350" kern="0" spc="-27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stdio.h</a:t>
            </a:r>
            <a:r>
              <a:rPr lang="en-US" sz="1350" kern="0" spc="-27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r>
              <a:rPr lang="en-US" sz="1350" kern="0" spc="-27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stdlib.h</a:t>
            </a:r>
            <a:r>
              <a:rPr lang="en-US" sz="1350" kern="0" spc="-27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r>
              <a:rPr lang="en-US" sz="1350" kern="0" spc="-27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string.h</a:t>
            </a:r>
            <a:r>
              <a:rPr lang="en-US" sz="1350" kern="0" spc="-27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) for memory and file manipulation.</a:t>
            </a: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kern="0" spc="-27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File handling operations (</a:t>
            </a:r>
            <a:r>
              <a:rPr lang="en-US" sz="1350" kern="0" spc="-27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fopen</a:t>
            </a:r>
            <a:r>
              <a:rPr lang="en-US" sz="1350" kern="0" spc="-27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r>
              <a:rPr lang="en-US" sz="1350" kern="0" spc="-27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fprintf</a:t>
            </a:r>
            <a:r>
              <a:rPr lang="en-US" sz="1350" kern="0" spc="-27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, </a:t>
            </a:r>
            <a:r>
              <a:rPr lang="en-US" sz="1350" kern="0" spc="-27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fscanf</a:t>
            </a:r>
            <a:r>
              <a:rPr lang="en-US" sz="1350" kern="0" spc="-27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) are used to persist records in plain text format (</a:t>
            </a:r>
            <a:r>
              <a:rPr lang="en-US" sz="1350" kern="0" spc="-27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patients.txt</a:t>
            </a:r>
            <a:r>
              <a:rPr lang="en-US" sz="1350" kern="0" spc="-27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), ensuring data survives across program sessions without any external database dependency.</a:t>
            </a:r>
            <a:endParaRPr lang="en-US" sz="13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4645323"/>
            <a:ext cx="2785695" cy="11102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7855" y="4838898"/>
            <a:ext cx="2322355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32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Core Libraries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67855" y="5270103"/>
            <a:ext cx="2322355" cy="291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kern="0" spc="-27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stdio.h</a:t>
            </a:r>
            <a:r>
              <a:rPr lang="en-US" sz="1350" kern="0" spc="-27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· </a:t>
            </a:r>
            <a:r>
              <a:rPr lang="en-US" sz="1350" kern="0" spc="-27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stdlib.h</a:t>
            </a:r>
            <a:r>
              <a:rPr lang="en-US" sz="1350" kern="0" spc="-27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· </a:t>
            </a:r>
            <a:r>
              <a:rPr lang="en-US" sz="1350" kern="0" spc="-27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string.h</a:t>
            </a:r>
            <a:endParaRPr lang="en-US" sz="13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58302" y="4645323"/>
            <a:ext cx="2785695" cy="111025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928071" y="4838898"/>
            <a:ext cx="2322355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32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Data Storage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3928071" y="5270103"/>
            <a:ext cx="2322355" cy="291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kern="0" spc="-27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Plain text file — </a:t>
            </a:r>
            <a:r>
              <a:rPr lang="en-US" sz="1350" kern="0" spc="-27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patients.txt</a:t>
            </a:r>
            <a:endParaRPr lang="en-US" sz="13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6183" y="1877318"/>
            <a:ext cx="4623776" cy="308173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30932"/>
            <a:ext cx="10795524" cy="410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kern="0" spc="-52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Core Code Modules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698086" y="1264841"/>
            <a:ext cx="11405108" cy="201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kern="0" spc="-22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system is organised into five distinct functions, each responsible for a specific operation on patient records.</a:t>
            </a:r>
            <a:endParaRPr lang="en-US" sz="10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1591469"/>
            <a:ext cx="10795524" cy="83780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88482" y="1879501"/>
            <a:ext cx="209446" cy="2617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kern="0" spc="-33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387242" y="1750120"/>
            <a:ext cx="9947721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kern="0" spc="-26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addPatient()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1387242" y="2022475"/>
            <a:ext cx="9947721" cy="213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kern="0" spc="-22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Opens </a:t>
            </a:r>
            <a:r>
              <a:rPr lang="en-US" sz="1050" kern="0" spc="-22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patients.txt</a:t>
            </a:r>
            <a:r>
              <a:rPr lang="en-US" sz="1050" kern="0" spc="-22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in append mode (</a:t>
            </a:r>
            <a:r>
              <a:rPr lang="en-US" sz="1050" kern="0" spc="-22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"a"</a:t>
            </a:r>
            <a:r>
              <a:rPr lang="en-US" sz="1050" kern="0" spc="-22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) and logs new struct record entries seamlessly to the persistent file.</a:t>
            </a:r>
            <a:endParaRPr lang="en-US" sz="10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2540893"/>
            <a:ext cx="10795524" cy="83780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88482" y="2828925"/>
            <a:ext cx="209446" cy="2617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kern="0" spc="-33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387242" y="2699544"/>
            <a:ext cx="9947721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kern="0" spc="-26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displayPatients()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1387242" y="2971899"/>
            <a:ext cx="9947721" cy="213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kern="0" spc="-22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Reads stored data sequentially (</a:t>
            </a:r>
            <a:r>
              <a:rPr lang="en-US" sz="1050" kern="0" spc="-22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"r"</a:t>
            </a:r>
            <a:r>
              <a:rPr lang="en-US" sz="1050" kern="0" spc="-22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) using </a:t>
            </a:r>
            <a:r>
              <a:rPr lang="en-US" sz="1050" kern="0" spc="-22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fscanf</a:t>
            </a:r>
            <a:r>
              <a:rPr lang="en-US" sz="1050" kern="0" spc="-22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and outputs a clean, formatted tabular summary of all patients.</a:t>
            </a:r>
            <a:endParaRPr lang="en-US" sz="10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3490317"/>
            <a:ext cx="10795524" cy="83780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88482" y="3778349"/>
            <a:ext cx="209446" cy="2617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kern="0" spc="-33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387242" y="3648968"/>
            <a:ext cx="9947721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kern="0" spc="-26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searchPatient()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1387242" y="3921323"/>
            <a:ext cx="9947721" cy="201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kern="0" spc="-22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Filters file entries by a user-specified Patient ID and renders a comprehensive patient detail card on screen.</a:t>
            </a:r>
            <a:endParaRPr lang="en-US" sz="10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4439741"/>
            <a:ext cx="10795524" cy="83780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88482" y="4727773"/>
            <a:ext cx="209446" cy="2617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kern="0" spc="-33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1387242" y="4598392"/>
            <a:ext cx="9947721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kern="0" spc="-26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updatePatient()</a:t>
            </a:r>
            <a:endParaRPr lang="en-US" sz="1250" dirty="0"/>
          </a:p>
        </p:txBody>
      </p:sp>
      <p:sp>
        <p:nvSpPr>
          <p:cNvPr id="19" name="Text 13"/>
          <p:cNvSpPr/>
          <p:nvPr/>
        </p:nvSpPr>
        <p:spPr>
          <a:xfrm>
            <a:off x="1387242" y="4870748"/>
            <a:ext cx="9947721" cy="213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kern="0" spc="-22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Writes updated data to </a:t>
            </a:r>
            <a:r>
              <a:rPr lang="en-US" sz="1050" kern="0" spc="-22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temp.txt</a:t>
            </a:r>
            <a:r>
              <a:rPr lang="en-US" sz="1050" kern="0" spc="-22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and renames it to replace the original records safely, preventing data loss.</a:t>
            </a:r>
            <a:endParaRPr lang="en-US" sz="1050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8086" y="5389166"/>
            <a:ext cx="10795524" cy="837803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88482" y="5677198"/>
            <a:ext cx="209446" cy="26173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kern="0" spc="-33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1387242" y="5547816"/>
            <a:ext cx="9947721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kern="0" spc="-26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generateBill()</a:t>
            </a:r>
            <a:endParaRPr lang="en-US" sz="1250" dirty="0"/>
          </a:p>
        </p:txBody>
      </p:sp>
      <p:sp>
        <p:nvSpPr>
          <p:cNvPr id="23" name="Text 16"/>
          <p:cNvSpPr/>
          <p:nvPr/>
        </p:nvSpPr>
        <p:spPr>
          <a:xfrm>
            <a:off x="1387242" y="5820172"/>
            <a:ext cx="9947721" cy="2137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kern="0" spc="-22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Computes </a:t>
            </a:r>
            <a:r>
              <a:rPr lang="en-US" sz="1050" kern="0" spc="-22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(days × dailyRate) + medicineCost</a:t>
            </a:r>
            <a:r>
              <a:rPr lang="en-US" sz="1050" kern="0" spc="-22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dynamically to output a total billing summary for the patient.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415058"/>
            <a:ext cx="10795524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kern="0" spc="-65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Sample Patient Dataset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98086" y="2277368"/>
            <a:ext cx="10795524" cy="5584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kern="0" spc="-27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following table illustrates how patient records are stored and displayed by the system. Each record contains all relevant clinical and billing information in a structured format.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98086" y="3032125"/>
            <a:ext cx="10795524" cy="1516459"/>
          </a:xfrm>
          <a:prstGeom prst="roundRect">
            <a:avLst>
              <a:gd name="adj" fmla="val 4834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436" y="3038475"/>
            <a:ext cx="11861106" cy="50125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79255" y="3149501"/>
            <a:ext cx="1119953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b="1" kern="0" spc="-27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ID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1745016" y="3149501"/>
            <a:ext cx="2195061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b="1" kern="0" spc="-27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Patient Name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685884" y="3149501"/>
            <a:ext cx="1116778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b="1" kern="0" spc="-27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Age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48471" y="3149501"/>
            <a:ext cx="2195061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b="1" kern="0" spc="-27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Disease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89339" y="3149501"/>
            <a:ext cx="1332474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b="1" kern="0" spc="-27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Room No.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7567622" y="3149501"/>
            <a:ext cx="1116778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b="1" kern="0" spc="-27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Days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430208" y="3149501"/>
            <a:ext cx="2195061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b="1" kern="0" spc="-27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Daily Rate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0371076" y="3149501"/>
            <a:ext cx="2019944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b="1" kern="0" spc="-27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Med. Cost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704436" y="3539728"/>
            <a:ext cx="11861106" cy="501253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879255" y="3650754"/>
            <a:ext cx="1119953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kern="0" spc="-27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745016" y="3650754"/>
            <a:ext cx="2195061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b="1" kern="0" spc="-27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Ram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685884" y="3650754"/>
            <a:ext cx="1116778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kern="0" spc="-27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45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48471" y="3650754"/>
            <a:ext cx="2195061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kern="0" spc="-27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Diabetes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89339" y="3650754"/>
            <a:ext cx="1332474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kern="0" spc="-27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304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7567622" y="3650754"/>
            <a:ext cx="1116778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kern="0" spc="-27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4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8430208" y="3650754"/>
            <a:ext cx="2195061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kern="0" spc="-27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₹2,120.00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10371076" y="3650754"/>
            <a:ext cx="2019944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kern="0" spc="-27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₹2,210.00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704436" y="4040981"/>
            <a:ext cx="11861106" cy="501253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879255" y="4152007"/>
            <a:ext cx="1119953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kern="0" spc="-27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745016" y="4152007"/>
            <a:ext cx="2195061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b="1" kern="0" spc="-27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Sam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3685884" y="4152007"/>
            <a:ext cx="1116778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kern="0" spc="-27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35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548471" y="4152007"/>
            <a:ext cx="2195061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kern="0" spc="-27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Heart Disease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6489339" y="4152007"/>
            <a:ext cx="1332474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kern="0" spc="-27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305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7567622" y="4152007"/>
            <a:ext cx="1116778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kern="0" spc="-27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8430208" y="4152007"/>
            <a:ext cx="2195061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kern="0" spc="-27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₹1,150.00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10371076" y="4152007"/>
            <a:ext cx="2019944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kern="0" spc="-27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₹2,450.00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698086" y="4744938"/>
            <a:ext cx="10795524" cy="697905"/>
          </a:xfrm>
          <a:prstGeom prst="roundRect">
            <a:avLst>
              <a:gd name="adj" fmla="val 10504"/>
            </a:avLst>
          </a:prstGeom>
          <a:solidFill>
            <a:srgbClr val="F4D4F7"/>
          </a:solidFill>
          <a:ln/>
        </p:spPr>
      </p:sp>
      <p:pic>
        <p:nvPicPr>
          <p:cNvPr id="3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2607" y="4994374"/>
            <a:ext cx="218177" cy="174526"/>
          </a:xfrm>
          <a:prstGeom prst="rect">
            <a:avLst/>
          </a:prstGeom>
        </p:spPr>
      </p:pic>
      <p:sp>
        <p:nvSpPr>
          <p:cNvPr id="34" name="Text 31"/>
          <p:cNvSpPr/>
          <p:nvPr/>
        </p:nvSpPr>
        <p:spPr>
          <a:xfrm>
            <a:off x="1265305" y="4963021"/>
            <a:ext cx="10663368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kern="0" spc="-27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All monetary values are stored as floating-point numbers and formatted to two decimal places for accurate billing output.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214834"/>
            <a:ext cx="10795524" cy="51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kern="0" spc="-65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Automated Billing Logic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72379" y="1989832"/>
            <a:ext cx="5436258" cy="3653234"/>
          </a:xfrm>
          <a:prstGeom prst="roundRect">
            <a:avLst>
              <a:gd name="adj" fmla="val 3440"/>
            </a:avLst>
          </a:prstGeom>
          <a:solidFill>
            <a:srgbClr val="D75BE2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46900" y="2164358"/>
            <a:ext cx="5087215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32" dirty="0">
                <a:solidFill>
                  <a:srgbClr val="000000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Financial Calculation Formula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46900" y="2595563"/>
            <a:ext cx="5087215" cy="17228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200"/>
              </a:spcAft>
              <a:buNone/>
            </a:pPr>
            <a:r>
              <a:rPr lang="en-US" sz="1350" kern="0" spc="-27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total bill amount for any admitted patient is calculated automatically using the following formulation:</a:t>
            </a:r>
            <a:endParaRPr lang="en-US" sz="1350" dirty="0"/>
          </a:p>
          <a:p>
            <a:pPr marL="0" indent="0" algn="l">
              <a:lnSpc>
                <a:spcPct val="133000"/>
              </a:lnSpc>
              <a:spcAft>
                <a:spcPts val="1200"/>
              </a:spcAft>
              <a:buNone/>
            </a:pPr>
            <a:r>
              <a:rPr lang="en-US" sz="1350" b="1" kern="0" spc="-27" dirty="0">
                <a:solidFill>
                  <a:srgbClr val="000000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Total Bill = (Days Admitted × Daily Room Rate) + Medication Cost</a:t>
            </a:r>
            <a:endParaRPr lang="en-US" sz="13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50" kern="0" spc="-27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This computation is performed at runtime by the </a:t>
            </a:r>
            <a:r>
              <a:rPr lang="en-US" sz="1350" kern="0" spc="-27" dirty="0">
                <a:solidFill>
                  <a:srgbClr val="000000"/>
                </a:solidFill>
                <a:highlight>
                  <a:srgbClr val="CA4ED5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generateBill()</a:t>
            </a:r>
            <a:r>
              <a:rPr lang="en-US" sz="1350" kern="0" spc="-27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function, ensuring zero manual calculation errors.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315115" y="2164358"/>
            <a:ext cx="5184844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32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Worked Example — Ram (ID: 1)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96066" y="2598341"/>
            <a:ext cx="5203893" cy="74850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27736" y="2617391"/>
            <a:ext cx="4972223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32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Room Stay Charges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527736" y="3048595"/>
            <a:ext cx="4972223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kern="0" spc="-27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4 days × ₹2,120.00 = </a:t>
            </a:r>
            <a:r>
              <a:rPr lang="en-US" sz="1350" b="1" kern="0" spc="-27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₹8,480.00</a:t>
            </a:r>
            <a:endParaRPr lang="en-US" sz="13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96066" y="3657798"/>
            <a:ext cx="5203893" cy="74850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27736" y="3676848"/>
            <a:ext cx="4972223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32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Medication Cost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527736" y="4108053"/>
            <a:ext cx="4972223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kern="0" spc="-27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Prescribed medicines = </a:t>
            </a:r>
            <a:r>
              <a:rPr lang="en-US" sz="1350" b="1" kern="0" spc="-27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₹2,210.00</a:t>
            </a:r>
            <a:endParaRPr lang="en-US" sz="1350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96066" y="4717256"/>
            <a:ext cx="5203893" cy="74850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527736" y="4736306"/>
            <a:ext cx="4972223" cy="2566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32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Grand Total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527736" y="5167511"/>
            <a:ext cx="4972223" cy="2792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50" kern="0" spc="-27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₹8,480.00 + ₹2,210.00 = </a:t>
            </a:r>
            <a:r>
              <a:rPr lang="en-US" sz="1350" b="1" kern="0" spc="-27" dirty="0">
                <a:solidFill>
                  <a:srgbClr val="272525"/>
                </a:solidFill>
                <a:latin typeface="Source Sans 3 Bold" pitchFamily="34" charset="0"/>
                <a:ea typeface="Source Sans 3 Bold" pitchFamily="34" charset="-122"/>
                <a:cs typeface="Source Sans 3 Bold" pitchFamily="34" charset="-120"/>
              </a:rPr>
              <a:t>₹10,690.00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611584"/>
            <a:ext cx="10795524" cy="48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kern="0" spc="-61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Technical Advantages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98086" y="1414264"/>
            <a:ext cx="11405108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kern="0" spc="-26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system's architecture offers several compelling technical benefits that make it suitable for deployment in resource-constrained healthcare environments.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98086" y="1850033"/>
            <a:ext cx="5318984" cy="2125762"/>
          </a:xfrm>
          <a:prstGeom prst="roundRect">
            <a:avLst>
              <a:gd name="adj" fmla="val 3276"/>
            </a:avLst>
          </a:prstGeom>
          <a:solidFill>
            <a:srgbClr val="F4D4F7"/>
          </a:solidFill>
          <a:ln w="6350">
            <a:solidFill>
              <a:srgbClr val="DABAD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0226" y="2022177"/>
            <a:ext cx="497371" cy="497384"/>
          </a:xfrm>
          <a:prstGeom prst="ellipse">
            <a:avLst/>
          </a:prstGeom>
          <a:solidFill>
            <a:srgbClr val="AF41F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6946" y="2158901"/>
            <a:ext cx="223832" cy="2238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70226" y="2677021"/>
            <a:ext cx="4974704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31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Zero-Dependency Persistence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70226" y="3015258"/>
            <a:ext cx="4974704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kern="0" spc="-26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No requirement for external database drivers (e.g., MySQL, SQLite). Runs on pure C file stream mechanisms, making it portable and easy to run on any standard compiler environment.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74526" y="1850033"/>
            <a:ext cx="5319083" cy="2125762"/>
          </a:xfrm>
          <a:prstGeom prst="roundRect">
            <a:avLst>
              <a:gd name="adj" fmla="val 3276"/>
            </a:avLst>
          </a:prstGeom>
          <a:solidFill>
            <a:srgbClr val="F4D4F7"/>
          </a:solidFill>
          <a:ln w="6350">
            <a:solidFill>
              <a:srgbClr val="DABAD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46666" y="2022177"/>
            <a:ext cx="497371" cy="497384"/>
          </a:xfrm>
          <a:prstGeom prst="ellipse">
            <a:avLst/>
          </a:prstGeom>
          <a:solidFill>
            <a:srgbClr val="AF41F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3386" y="2158901"/>
            <a:ext cx="223832" cy="2238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346666" y="2677021"/>
            <a:ext cx="4974803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31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Atomic File Updates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346666" y="3015258"/>
            <a:ext cx="4974803" cy="7883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kern="0" spc="-26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Prevents file corruption during update procedures by staging temporary entries into </a:t>
            </a:r>
            <a:r>
              <a:rPr lang="en-US" sz="1300" kern="0" spc="-26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temp.txt</a:t>
            </a:r>
            <a:r>
              <a:rPr lang="en-US" sz="1300" kern="0" spc="-26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before executing atomic </a:t>
            </a:r>
            <a:r>
              <a:rPr lang="en-US" sz="1300" kern="0" spc="-26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remove()</a:t>
            </a:r>
            <a:r>
              <a:rPr lang="en-US" sz="1300" kern="0" spc="-26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and </a:t>
            </a:r>
            <a:r>
              <a:rPr lang="en-US" sz="1300" kern="0" spc="-26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rename()</a:t>
            </a:r>
            <a:r>
              <a:rPr lang="en-US" sz="1300" kern="0" spc="-26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C file operations.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98086" y="4133255"/>
            <a:ext cx="5318984" cy="2113062"/>
          </a:xfrm>
          <a:prstGeom prst="roundRect">
            <a:avLst>
              <a:gd name="adj" fmla="val 3296"/>
            </a:avLst>
          </a:prstGeom>
          <a:solidFill>
            <a:srgbClr val="F4D4F7"/>
          </a:solidFill>
          <a:ln w="6350">
            <a:solidFill>
              <a:srgbClr val="DABAD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70226" y="4305399"/>
            <a:ext cx="497371" cy="497384"/>
          </a:xfrm>
          <a:prstGeom prst="ellipse">
            <a:avLst/>
          </a:prstGeom>
          <a:solidFill>
            <a:srgbClr val="AF41F0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6946" y="4442123"/>
            <a:ext cx="223832" cy="2238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70226" y="4960243"/>
            <a:ext cx="4974704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31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Lightweight Execution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70226" y="5298480"/>
            <a:ext cx="4974704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kern="0" spc="-26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Minimal memory footprint with no GUI overhead. The console-based CLI interface ensures fast operations even on low-specification hardware commonly found in smaller clinics.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174526" y="4133255"/>
            <a:ext cx="5319083" cy="2113062"/>
          </a:xfrm>
          <a:prstGeom prst="roundRect">
            <a:avLst>
              <a:gd name="adj" fmla="val 3296"/>
            </a:avLst>
          </a:prstGeom>
          <a:solidFill>
            <a:srgbClr val="F4D4F7"/>
          </a:solidFill>
          <a:ln w="6350">
            <a:solidFill>
              <a:srgbClr val="DABADD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346666" y="4305399"/>
            <a:ext cx="497371" cy="497384"/>
          </a:xfrm>
          <a:prstGeom prst="ellipse">
            <a:avLst/>
          </a:prstGeom>
          <a:solidFill>
            <a:srgbClr val="AF41F0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83386" y="4442123"/>
            <a:ext cx="223832" cy="2238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346666" y="4960243"/>
            <a:ext cx="4974803" cy="2437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kern="0" spc="-31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Simple Maintainability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6346666" y="5298480"/>
            <a:ext cx="4974803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300" kern="0" spc="-26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Written entirely in standard C with clear modular functions. Any developer familiar with C can understand, debug, and extend the system without specialised training.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69971" y="672703"/>
            <a:ext cx="6223638" cy="4105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kern="0" spc="-52" dirty="0">
                <a:solidFill>
                  <a:srgbClr val="D73AD7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Development Roadmap</a:t>
            </a:r>
            <a:endParaRPr lang="en-US" sz="2550" dirty="0"/>
          </a:p>
        </p:txBody>
      </p:sp>
      <p:sp>
        <p:nvSpPr>
          <p:cNvPr id="4" name="Text 1"/>
          <p:cNvSpPr/>
          <p:nvPr/>
        </p:nvSpPr>
        <p:spPr>
          <a:xfrm>
            <a:off x="5269971" y="1250752"/>
            <a:ext cx="6223638" cy="402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kern="0" spc="-22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The project was executed in four structured phases, ensuring a methodical progression from requirements gathering to a fully tested and optimised system.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427031" y="1778397"/>
            <a:ext cx="19050" cy="3597374"/>
          </a:xfrm>
          <a:prstGeom prst="roundRect">
            <a:avLst>
              <a:gd name="adj" fmla="val 49999"/>
            </a:avLst>
          </a:prstGeom>
          <a:solidFill>
            <a:srgbClr val="DABADD"/>
          </a:solidFill>
          <a:ln/>
        </p:spPr>
      </p:sp>
      <p:sp>
        <p:nvSpPr>
          <p:cNvPr id="6" name="Shape 3"/>
          <p:cNvSpPr/>
          <p:nvPr/>
        </p:nvSpPr>
        <p:spPr>
          <a:xfrm>
            <a:off x="5565040" y="1925935"/>
            <a:ext cx="418891" cy="19050"/>
          </a:xfrm>
          <a:prstGeom prst="roundRect">
            <a:avLst>
              <a:gd name="adj" fmla="val 49999"/>
            </a:avLst>
          </a:prstGeom>
          <a:solidFill>
            <a:srgbClr val="DABADD"/>
          </a:solidFill>
          <a:ln/>
        </p:spPr>
      </p:sp>
      <p:sp>
        <p:nvSpPr>
          <p:cNvPr id="7" name="Shape 4"/>
          <p:cNvSpPr/>
          <p:nvPr/>
        </p:nvSpPr>
        <p:spPr>
          <a:xfrm>
            <a:off x="5269971" y="1778397"/>
            <a:ext cx="314119" cy="314127"/>
          </a:xfrm>
          <a:prstGeom prst="roundRect">
            <a:avLst>
              <a:gd name="adj" fmla="val 18670"/>
            </a:avLst>
          </a:prstGeom>
          <a:solidFill>
            <a:srgbClr val="F4D4F7"/>
          </a:solidFill>
          <a:ln w="6350">
            <a:solidFill>
              <a:srgbClr val="DABAD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28509" y="1812280"/>
            <a:ext cx="197044" cy="246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kern="0" spc="-31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1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6125216" y="1826320"/>
            <a:ext cx="5368394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kern="0" spc="-26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Phase 1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6125216" y="2098675"/>
            <a:ext cx="5368394" cy="414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kern="0" spc="-22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Requirements gathering and data structure definition — designing the </a:t>
            </a:r>
            <a:r>
              <a:rPr lang="en-US" sz="1050" kern="0" spc="-22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struct Patient</a:t>
            </a:r>
            <a:r>
              <a:rPr lang="en-US" sz="1050" kern="0" spc="-22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to capture all necessary patient fields accurately.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565040" y="2884289"/>
            <a:ext cx="418891" cy="19050"/>
          </a:xfrm>
          <a:prstGeom prst="roundRect">
            <a:avLst>
              <a:gd name="adj" fmla="val 49999"/>
            </a:avLst>
          </a:prstGeom>
          <a:solidFill>
            <a:srgbClr val="DABADD"/>
          </a:solidFill>
          <a:ln/>
        </p:spPr>
      </p:sp>
      <p:sp>
        <p:nvSpPr>
          <p:cNvPr id="12" name="Shape 9"/>
          <p:cNvSpPr/>
          <p:nvPr/>
        </p:nvSpPr>
        <p:spPr>
          <a:xfrm>
            <a:off x="5269971" y="2736751"/>
            <a:ext cx="314119" cy="314127"/>
          </a:xfrm>
          <a:prstGeom prst="roundRect">
            <a:avLst>
              <a:gd name="adj" fmla="val 18670"/>
            </a:avLst>
          </a:prstGeom>
          <a:solidFill>
            <a:srgbClr val="F4D4F7"/>
          </a:solidFill>
          <a:ln w="6350">
            <a:solidFill>
              <a:srgbClr val="DABAD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28509" y="2770634"/>
            <a:ext cx="197044" cy="246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kern="0" spc="-31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2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6125216" y="2784673"/>
            <a:ext cx="5368394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kern="0" spc="-26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Phase 2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125216" y="3057029"/>
            <a:ext cx="5368394" cy="414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kern="0" spc="-22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File I/O programming — implementing Add, Search, and Display record functionalities with persistent storage in </a:t>
            </a:r>
            <a:r>
              <a:rPr lang="en-US" sz="1050" kern="0" spc="-22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patients.txt</a:t>
            </a:r>
            <a:r>
              <a:rPr lang="en-US" sz="1050" kern="0" spc="-22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5565040" y="3842643"/>
            <a:ext cx="418891" cy="19050"/>
          </a:xfrm>
          <a:prstGeom prst="roundRect">
            <a:avLst>
              <a:gd name="adj" fmla="val 49999"/>
            </a:avLst>
          </a:prstGeom>
          <a:solidFill>
            <a:srgbClr val="DABADD"/>
          </a:solidFill>
          <a:ln/>
        </p:spPr>
      </p:sp>
      <p:sp>
        <p:nvSpPr>
          <p:cNvPr id="17" name="Shape 14"/>
          <p:cNvSpPr/>
          <p:nvPr/>
        </p:nvSpPr>
        <p:spPr>
          <a:xfrm>
            <a:off x="5269971" y="3695105"/>
            <a:ext cx="314119" cy="314127"/>
          </a:xfrm>
          <a:prstGeom prst="roundRect">
            <a:avLst>
              <a:gd name="adj" fmla="val 18670"/>
            </a:avLst>
          </a:prstGeom>
          <a:solidFill>
            <a:srgbClr val="F4D4F7"/>
          </a:solidFill>
          <a:ln w="6350">
            <a:solidFill>
              <a:srgbClr val="DABAD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328509" y="3728988"/>
            <a:ext cx="197044" cy="246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kern="0" spc="-31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3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6125216" y="3743027"/>
            <a:ext cx="5368394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kern="0" spc="-26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Phase 3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125216" y="4015383"/>
            <a:ext cx="5368394" cy="4147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kern="0" spc="-22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Update routine development using </a:t>
            </a:r>
            <a:r>
              <a:rPr lang="en-US" sz="1050" kern="0" spc="-22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temp.txt</a:t>
            </a:r>
            <a:r>
              <a:rPr lang="en-US" sz="1050" kern="0" spc="-22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 staging and building the automated billing engine for real-time cost computation.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565040" y="4800997"/>
            <a:ext cx="418891" cy="19050"/>
          </a:xfrm>
          <a:prstGeom prst="roundRect">
            <a:avLst>
              <a:gd name="adj" fmla="val 49999"/>
            </a:avLst>
          </a:prstGeom>
          <a:solidFill>
            <a:srgbClr val="DABADD"/>
          </a:solidFill>
          <a:ln/>
        </p:spPr>
      </p:sp>
      <p:sp>
        <p:nvSpPr>
          <p:cNvPr id="22" name="Shape 19"/>
          <p:cNvSpPr/>
          <p:nvPr/>
        </p:nvSpPr>
        <p:spPr>
          <a:xfrm>
            <a:off x="5269971" y="4653459"/>
            <a:ext cx="314119" cy="314127"/>
          </a:xfrm>
          <a:prstGeom prst="roundRect">
            <a:avLst>
              <a:gd name="adj" fmla="val 18670"/>
            </a:avLst>
          </a:prstGeom>
          <a:solidFill>
            <a:srgbClr val="F4D4F7"/>
          </a:solidFill>
          <a:ln w="6350">
            <a:solidFill>
              <a:srgbClr val="DABADD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328509" y="4687342"/>
            <a:ext cx="197044" cy="246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kern="0" spc="-31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4</a:t>
            </a:r>
            <a:endParaRPr lang="en-US" sz="1550" dirty="0"/>
          </a:p>
        </p:txBody>
      </p:sp>
      <p:sp>
        <p:nvSpPr>
          <p:cNvPr id="24" name="Text 21"/>
          <p:cNvSpPr/>
          <p:nvPr/>
        </p:nvSpPr>
        <p:spPr>
          <a:xfrm>
            <a:off x="6125216" y="4701381"/>
            <a:ext cx="5368394" cy="2053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kern="0" spc="-26" dirty="0">
                <a:solidFill>
                  <a:srgbClr val="272525"/>
                </a:solidFill>
                <a:latin typeface="Source Serif 4 SemiBold" pitchFamily="34" charset="0"/>
                <a:ea typeface="Source Serif 4 SemiBold" pitchFamily="34" charset="-122"/>
                <a:cs typeface="Source Serif 4 SemiBold" pitchFamily="34" charset="-120"/>
              </a:rPr>
              <a:t>Phase 4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6125216" y="4973737"/>
            <a:ext cx="5368394" cy="402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kern="0" spc="-22" dirty="0">
                <a:solidFill>
                  <a:srgbClr val="27252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System testing, sample dataset verification, and performance optimisation to ensure reliability across all use cases.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5269971" y="5501382"/>
            <a:ext cx="6223638" cy="683816"/>
          </a:xfrm>
          <a:prstGeom prst="roundRect">
            <a:avLst>
              <a:gd name="adj" fmla="val 8576"/>
            </a:avLst>
          </a:prstGeom>
          <a:solidFill>
            <a:srgbClr val="B6FCB8"/>
          </a:solidFill>
          <a:ln/>
        </p:spPr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9569" y="5658941"/>
            <a:ext cx="174521" cy="139601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5723687" y="5647829"/>
            <a:ext cx="5630325" cy="402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kern="0" spc="-22" dirty="0">
                <a:solidFill>
                  <a:srgbClr val="000000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All four phases have been completed successfully. The system is fully functional with verified sample data and a working billing module.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1068</Words>
  <Application>Microsoft Office PowerPoint</Application>
  <PresentationFormat>Widescreen</PresentationFormat>
  <Paragraphs>130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Source Sans 3</vt:lpstr>
      <vt:lpstr>Source Sans 3 Bold</vt:lpstr>
      <vt:lpstr>Consolas</vt:lpstr>
      <vt:lpstr>Calibri</vt:lpstr>
      <vt:lpstr>Arial</vt:lpstr>
      <vt:lpstr>Calibri Light</vt:lpstr>
      <vt:lpstr>Source Serif 4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Naren Karthick Gururaju</cp:lastModifiedBy>
  <cp:revision>2</cp:revision>
  <dcterms:created xsi:type="dcterms:W3CDTF">2026-08-20T15:16:37Z</dcterms:created>
  <dcterms:modified xsi:type="dcterms:W3CDTF">2026-08-20T15:18:22Z</dcterms:modified>
</cp:coreProperties>
</file>