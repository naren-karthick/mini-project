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Inter SemiBold"/>
      <p:regular r:id="rId19"/>
      <p:bold r:id="rId20"/>
      <p:italic r:id="rId21"/>
      <p:boldItalic r:id="rId22"/>
    </p:embeddedFont>
    <p:embeddedFont>
      <p:font typeface="Poppins"/>
      <p:regular r:id="rId23"/>
      <p:bold r:id="rId24"/>
      <p:italic r:id="rId25"/>
      <p:boldItalic r:id="rId26"/>
    </p:embeddedFont>
    <p:embeddedFont>
      <p:font typeface="Inter"/>
      <p:regular r:id="rId27"/>
      <p:bold r:id="rId28"/>
      <p:italic r:id="rId29"/>
      <p:boldItalic r:id="rId30"/>
    </p:embeddedFont>
    <p:embeddedFont>
      <p:font typeface="Poppins SemiBold"/>
      <p:regular r:id="rId31"/>
      <p:bold r:id="rId32"/>
      <p:italic r:id="rId33"/>
      <p:boldItalic r:id="rId34"/>
    </p:embeddedFont>
    <p:embeddedFont>
      <p:font typeface="Inter Medium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8FD95F5-062C-477F-8350-34269B709848}">
  <a:tblStyle styleId="{D8FD95F5-062C-477F-8350-34269B70984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bold.fntdata"/><Relationship Id="rId22" Type="http://schemas.openxmlformats.org/officeDocument/2006/relationships/font" Target="fonts/InterSemiBold-boldItalic.fntdata"/><Relationship Id="rId21" Type="http://schemas.openxmlformats.org/officeDocument/2006/relationships/font" Target="fonts/InterSemiBold-italic.fntdata"/><Relationship Id="rId24" Type="http://schemas.openxmlformats.org/officeDocument/2006/relationships/font" Target="fonts/Poppins-bold.fntdata"/><Relationship Id="rId23" Type="http://schemas.openxmlformats.org/officeDocument/2006/relationships/font" Target="fonts/Poppins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oppins-boldItalic.fntdata"/><Relationship Id="rId25" Type="http://schemas.openxmlformats.org/officeDocument/2006/relationships/font" Target="fonts/Poppins-italic.fntdata"/><Relationship Id="rId28" Type="http://schemas.openxmlformats.org/officeDocument/2006/relationships/font" Target="fonts/Inter-bold.fntdata"/><Relationship Id="rId27" Type="http://schemas.openxmlformats.org/officeDocument/2006/relationships/font" Target="fonts/Inter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oppinsSemiBold-regular.fntdata"/><Relationship Id="rId30" Type="http://schemas.openxmlformats.org/officeDocument/2006/relationships/font" Target="fonts/Inter-boldItalic.fntdata"/><Relationship Id="rId11" Type="http://schemas.openxmlformats.org/officeDocument/2006/relationships/slide" Target="slides/slide5.xml"/><Relationship Id="rId33" Type="http://schemas.openxmlformats.org/officeDocument/2006/relationships/font" Target="fonts/PoppinsSemiBold-italic.fntdata"/><Relationship Id="rId10" Type="http://schemas.openxmlformats.org/officeDocument/2006/relationships/slide" Target="slides/slide4.xml"/><Relationship Id="rId32" Type="http://schemas.openxmlformats.org/officeDocument/2006/relationships/font" Target="fonts/PoppinsSemiBold-bold.fntdata"/><Relationship Id="rId13" Type="http://schemas.openxmlformats.org/officeDocument/2006/relationships/slide" Target="slides/slide7.xml"/><Relationship Id="rId35" Type="http://schemas.openxmlformats.org/officeDocument/2006/relationships/font" Target="fonts/InterMedium-regular.fntdata"/><Relationship Id="rId12" Type="http://schemas.openxmlformats.org/officeDocument/2006/relationships/slide" Target="slides/slide6.xml"/><Relationship Id="rId34" Type="http://schemas.openxmlformats.org/officeDocument/2006/relationships/font" Target="fonts/PoppinsSemiBold-boldItalic.fntdata"/><Relationship Id="rId15" Type="http://schemas.openxmlformats.org/officeDocument/2006/relationships/slide" Target="slides/slide9.xml"/><Relationship Id="rId37" Type="http://schemas.openxmlformats.org/officeDocument/2006/relationships/font" Target="fonts/InterMedium-italic.fntdata"/><Relationship Id="rId14" Type="http://schemas.openxmlformats.org/officeDocument/2006/relationships/slide" Target="slides/slide8.xml"/><Relationship Id="rId36" Type="http://schemas.openxmlformats.org/officeDocument/2006/relationships/font" Target="fonts/InterMedium-bold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38" Type="http://schemas.openxmlformats.org/officeDocument/2006/relationships/font" Target="fonts/InterMedium-boldItalic.fntdata"/><Relationship Id="rId19" Type="http://schemas.openxmlformats.org/officeDocument/2006/relationships/font" Target="fonts/InterSemiBold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10" Type="http://schemas.openxmlformats.org/officeDocument/2006/relationships/image" Target="../media/image5.png"/><Relationship Id="rId9" Type="http://schemas.openxmlformats.org/officeDocument/2006/relationships/image" Target="../media/image9.png"/><Relationship Id="rId5" Type="http://schemas.openxmlformats.org/officeDocument/2006/relationships/image" Target="../media/image7.png"/><Relationship Id="rId6" Type="http://schemas.openxmlformats.org/officeDocument/2006/relationships/image" Target="../media/image11.png"/><Relationship Id="rId7" Type="http://schemas.openxmlformats.org/officeDocument/2006/relationships/image" Target="../media/image10.png"/><Relationship Id="rId8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5" Type="http://schemas.openxmlformats.org/officeDocument/2006/relationships/image" Target="../media/image44.png"/><Relationship Id="rId6" Type="http://schemas.openxmlformats.org/officeDocument/2006/relationships/image" Target="../media/image13.png"/><Relationship Id="rId7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8.png"/><Relationship Id="rId6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16.png"/><Relationship Id="rId10" Type="http://schemas.openxmlformats.org/officeDocument/2006/relationships/image" Target="../media/image22.png"/><Relationship Id="rId13" Type="http://schemas.openxmlformats.org/officeDocument/2006/relationships/image" Target="../media/image18.png"/><Relationship Id="rId1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5.png"/><Relationship Id="rId9" Type="http://schemas.openxmlformats.org/officeDocument/2006/relationships/image" Target="../media/image19.png"/><Relationship Id="rId14" Type="http://schemas.openxmlformats.org/officeDocument/2006/relationships/image" Target="../media/image27.png"/><Relationship Id="rId5" Type="http://schemas.openxmlformats.org/officeDocument/2006/relationships/image" Target="../media/image17.png"/><Relationship Id="rId6" Type="http://schemas.openxmlformats.org/officeDocument/2006/relationships/image" Target="../media/image36.png"/><Relationship Id="rId7" Type="http://schemas.openxmlformats.org/officeDocument/2006/relationships/image" Target="../media/image23.png"/><Relationship Id="rId8" Type="http://schemas.openxmlformats.org/officeDocument/2006/relationships/image" Target="../media/image2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28.png"/><Relationship Id="rId5" Type="http://schemas.openxmlformats.org/officeDocument/2006/relationships/image" Target="../media/image30.png"/><Relationship Id="rId6" Type="http://schemas.openxmlformats.org/officeDocument/2006/relationships/image" Target="../media/image25.png"/><Relationship Id="rId7" Type="http://schemas.openxmlformats.org/officeDocument/2006/relationships/image" Target="../media/image24.png"/><Relationship Id="rId8" Type="http://schemas.openxmlformats.org/officeDocument/2006/relationships/image" Target="../media/image3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4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29.png"/><Relationship Id="rId5" Type="http://schemas.openxmlformats.org/officeDocument/2006/relationships/image" Target="../media/image41.png"/><Relationship Id="rId6" Type="http://schemas.openxmlformats.org/officeDocument/2006/relationships/image" Target="../media/image3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5" Type="http://schemas.openxmlformats.org/officeDocument/2006/relationships/image" Target="../media/image44.png"/><Relationship Id="rId6" Type="http://schemas.openxmlformats.org/officeDocument/2006/relationships/image" Target="../media/image32.png"/><Relationship Id="rId7" Type="http://schemas.openxmlformats.org/officeDocument/2006/relationships/image" Target="../media/image3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35.png"/><Relationship Id="rId5" Type="http://schemas.openxmlformats.org/officeDocument/2006/relationships/image" Target="../media/image38.png"/><Relationship Id="rId6" Type="http://schemas.openxmlformats.org/officeDocument/2006/relationships/image" Target="../media/image43.png"/><Relationship Id="rId7" Type="http://schemas.openxmlformats.org/officeDocument/2006/relationships/image" Target="../media/image3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37.png"/><Relationship Id="rId5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38387" y="4513361"/>
            <a:ext cx="182880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0062" y="4513361"/>
            <a:ext cx="1838325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7" name="Google Shape;87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91262" y="4513361"/>
            <a:ext cx="200025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8" name="Google Shape;88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34387" y="4513361"/>
            <a:ext cx="1419225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9" name="Google Shape;89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05350" y="1982688"/>
            <a:ext cx="27813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 txBox="1"/>
          <p:nvPr/>
        </p:nvSpPr>
        <p:spPr>
          <a:xfrm>
            <a:off x="405288" y="2487513"/>
            <a:ext cx="11381422" cy="6351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4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Hospital Patient Management System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2109787" y="3313211"/>
            <a:ext cx="79724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 Lightweight, C-Based Patient Record Management &amp; Automated Billing Solution</a:t>
            </a:r>
            <a:endParaRPr/>
          </a:p>
        </p:txBody>
      </p:sp>
      <p:pic>
        <p:nvPicPr>
          <p:cNvPr descr="image.png" id="92" name="Google Shape;92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886325" y="2068413"/>
            <a:ext cx="190500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3"/>
          <p:cNvSpPr txBox="1"/>
          <p:nvPr/>
        </p:nvSpPr>
        <p:spPr>
          <a:xfrm>
            <a:off x="2338387" y="4199036"/>
            <a:ext cx="75152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PROJECT TEAM</a:t>
            </a:r>
            <a:endParaRPr/>
          </a:p>
        </p:txBody>
      </p:sp>
      <p:pic>
        <p:nvPicPr>
          <p:cNvPr descr="image.png" id="94" name="Google Shape;94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500312" y="4618136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471987" y="4618136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453187" y="4618136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596312" y="4618136"/>
            <a:ext cx="19050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2" name="Google Shape;10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19387"/>
            <a:ext cx="5334000" cy="2105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719387"/>
            <a:ext cx="5334000" cy="2105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885825" y="3033712"/>
            <a:ext cx="494061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Core Development Team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885825" y="3481387"/>
            <a:ext cx="47053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Naren Karthick G &amp; Madhan Kumar Y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885825" y="3738562"/>
            <a:ext cx="47053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Engineered core data structures (`struct Patient`), file handling persistence (`patients.txt`), memory allocation, and module integration for CLI operations.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6600825" y="3033712"/>
            <a:ext cx="494061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Analysis &amp; Quality Team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6600825" y="3481387"/>
            <a:ext cx="47053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Grascy Jennifer J R &amp; Keerthika B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6600825" y="3738562"/>
            <a:ext cx="47053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Designed the automated billing calculation engine, temp-file updating protocols, user validation routines, and system test scenarios.</a:t>
            </a:r>
            <a:endParaRPr/>
          </a:p>
        </p:txBody>
      </p:sp>
      <p:pic>
        <p:nvPicPr>
          <p:cNvPr descr="image.png" id="111" name="Google Shape;111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5825" y="3081337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00825" y="3081337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4"/>
          <p:cNvSpPr txBox="1"/>
          <p:nvPr/>
        </p:nvSpPr>
        <p:spPr>
          <a:xfrm>
            <a:off x="571500" y="4762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Project Team &amp; Responsibilities</a:t>
            </a:r>
            <a:endParaRPr/>
          </a:p>
        </p:txBody>
      </p:sp>
      <p:sp>
        <p:nvSpPr>
          <p:cNvPr id="114" name="Google Shape;114;p14"/>
          <p:cNvSpPr/>
          <p:nvPr/>
        </p:nvSpPr>
        <p:spPr>
          <a:xfrm>
            <a:off x="571500" y="1133475"/>
            <a:ext cx="11049000" cy="2857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9" name="Google Shape;11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962150"/>
            <a:ext cx="533400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962150"/>
            <a:ext cx="53340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914400" y="2271712"/>
            <a:ext cx="49911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Digital Recordkeeping: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Replaces manual paper-based hospital registers with an efficient C console application.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914400" y="2957512"/>
            <a:ext cx="49911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Data Persistence: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Utilizes file I/O operations to securely store, retrieve, and update patient data across sessions.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914400" y="3643312"/>
            <a:ext cx="49911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Automated Financials: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Computes room stay charges and medication expenses with instant automated bill generation.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914400" y="4329112"/>
            <a:ext cx="49911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High Efficiency: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Operates lightweight text file processing for fast search and updates without external database overhead.</a:t>
            </a:r>
            <a:endParaRPr/>
          </a:p>
        </p:txBody>
      </p:sp>
      <p:pic>
        <p:nvPicPr>
          <p:cNvPr descr="image.png" id="126" name="Google Shape;126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2955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9813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6671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352925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5"/>
          <p:cNvSpPr txBox="1"/>
          <p:nvPr/>
        </p:nvSpPr>
        <p:spPr>
          <a:xfrm>
            <a:off x="571500" y="4762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Project Abstract</a:t>
            </a:r>
            <a:endParaRPr/>
          </a:p>
        </p:txBody>
      </p:sp>
      <p:sp>
        <p:nvSpPr>
          <p:cNvPr id="131" name="Google Shape;131;p15"/>
          <p:cNvSpPr/>
          <p:nvPr/>
        </p:nvSpPr>
        <p:spPr>
          <a:xfrm>
            <a:off x="571500" y="1133475"/>
            <a:ext cx="11049000" cy="2857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6" name="Google Shape;13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47912"/>
            <a:ext cx="2590800" cy="2847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90900" y="2347912"/>
            <a:ext cx="2590800" cy="2847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10300" y="2347912"/>
            <a:ext cx="2590800" cy="2847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29700" y="2347912"/>
            <a:ext cx="2590800" cy="2847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7725" y="2624137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6"/>
          <p:cNvSpPr txBox="1"/>
          <p:nvPr/>
        </p:nvSpPr>
        <p:spPr>
          <a:xfrm>
            <a:off x="847725" y="3348037"/>
            <a:ext cx="214026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Patient Admission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847725" y="3776662"/>
            <a:ext cx="20383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Captures Patient ID, Name, Age, Disease, Room Number, Days Admitted, Daily Charges, and Medication Costs.</a:t>
            </a:r>
            <a:endParaRPr/>
          </a:p>
        </p:txBody>
      </p:sp>
      <p:pic>
        <p:nvPicPr>
          <p:cNvPr descr="image.png" id="144" name="Google Shape;144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667125" y="2624137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6"/>
          <p:cNvSpPr txBox="1"/>
          <p:nvPr/>
        </p:nvSpPr>
        <p:spPr>
          <a:xfrm>
            <a:off x="3667125" y="3348037"/>
            <a:ext cx="214026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Quick Search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3667125" y="3776662"/>
            <a:ext cx="20383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Retrieves specific patient information instantly using unique Patient ID scanning over persistent records.</a:t>
            </a:r>
            <a:endParaRPr/>
          </a:p>
        </p:txBody>
      </p:sp>
      <p:pic>
        <p:nvPicPr>
          <p:cNvPr descr="image.png" id="147" name="Google Shape;147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86525" y="2624137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6"/>
          <p:cNvSpPr txBox="1"/>
          <p:nvPr/>
        </p:nvSpPr>
        <p:spPr>
          <a:xfrm>
            <a:off x="6486525" y="3348037"/>
            <a:ext cx="214026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Dynamic Updates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6486525" y="3776662"/>
            <a:ext cx="20383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Updates existing patient files seamlessly using file staging (`temp.txt`) to preserve data integrity.</a:t>
            </a:r>
            <a:endParaRPr/>
          </a:p>
        </p:txBody>
      </p:sp>
      <p:pic>
        <p:nvPicPr>
          <p:cNvPr descr="image.png" id="150" name="Google Shape;150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305925" y="2624137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6"/>
          <p:cNvSpPr txBox="1"/>
          <p:nvPr/>
        </p:nvSpPr>
        <p:spPr>
          <a:xfrm>
            <a:off x="9305925" y="3348037"/>
            <a:ext cx="214026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Instant Billing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9305925" y="3776662"/>
            <a:ext cx="20383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Calculates total stays and medication expenses into a clean, formatted digital billing receipt.</a:t>
            </a:r>
            <a:endParaRPr/>
          </a:p>
        </p:txBody>
      </p:sp>
      <p:pic>
        <p:nvPicPr>
          <p:cNvPr descr="image.png" id="153" name="Google Shape;153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47737" y="2757487"/>
            <a:ext cx="3333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800475" y="2757487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619875" y="2757487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472612" y="2757487"/>
            <a:ext cx="2000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6"/>
          <p:cNvSpPr txBox="1"/>
          <p:nvPr/>
        </p:nvSpPr>
        <p:spPr>
          <a:xfrm>
            <a:off x="571500" y="4762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Key Features Overview</a:t>
            </a:r>
            <a:endParaRPr/>
          </a:p>
        </p:txBody>
      </p:sp>
      <p:sp>
        <p:nvSpPr>
          <p:cNvPr id="158" name="Google Shape;158;p16"/>
          <p:cNvSpPr/>
          <p:nvPr/>
        </p:nvSpPr>
        <p:spPr>
          <a:xfrm>
            <a:off x="571500" y="1133475"/>
            <a:ext cx="11049000" cy="2857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3" name="Google Shape;16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7"/>
          <p:cNvSpPr txBox="1"/>
          <p:nvPr/>
        </p:nvSpPr>
        <p:spPr>
          <a:xfrm>
            <a:off x="571500" y="476250"/>
            <a:ext cx="5550693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System Architecture</a:t>
            </a:r>
            <a:endParaRPr/>
          </a:p>
        </p:txBody>
      </p:sp>
      <p:sp>
        <p:nvSpPr>
          <p:cNvPr id="165" name="Google Shape;165;p17"/>
          <p:cNvSpPr/>
          <p:nvPr/>
        </p:nvSpPr>
        <p:spPr>
          <a:xfrm>
            <a:off x="571500" y="1133475"/>
            <a:ext cx="5286375" cy="2857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66" name="Google Shape;16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7"/>
          <p:cNvSpPr txBox="1"/>
          <p:nvPr/>
        </p:nvSpPr>
        <p:spPr>
          <a:xfrm>
            <a:off x="571500" y="1162050"/>
            <a:ext cx="555069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Structured C Implementation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571500" y="1609725"/>
            <a:ext cx="5286375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system is built upon a modular execution model written in standard C programming language.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571500" y="2280046"/>
            <a:ext cx="5286375" cy="7768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It leverages composite data structures (`struct`) to represent patient entities and standard C libraries (`stdio.h`, `stdlib.h`, `string.h`) for memory and file manipulation.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571500" y="3209329"/>
            <a:ext cx="5286375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File handling operations (`fopen`, `fprintf`, `fscanf`) are used to persist records in plain text format (`patients.txt`).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5" name="Google Shape;17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8"/>
          <p:cNvSpPr txBox="1"/>
          <p:nvPr/>
        </p:nvSpPr>
        <p:spPr>
          <a:xfrm>
            <a:off x="914400" y="2700337"/>
            <a:ext cx="107061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addPatient():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Opens `patients.txt` in append mode (`"a"`) and logs new struct record entries seamlessly.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914400" y="3128962"/>
            <a:ext cx="107061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displayPatients():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Reads stored data sequentially (`"r"`) using `fscanf` and outputs a clean tabular summary.</a:t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914400" y="3557587"/>
            <a:ext cx="107061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searchPatient():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Filters file entries by user-specified ID and renders comprehensive patient detail cards.</a:t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914400" y="3986212"/>
            <a:ext cx="107061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updatePatient():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Writes updated data to `temp.txt` and renames it to replace original records safely.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914400" y="4414837"/>
            <a:ext cx="107061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generateBill():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Computes `(days × dailyRate) + medicineCost` dynamically to output total billing summaries.</a:t>
            </a:r>
            <a:endParaRPr/>
          </a:p>
        </p:txBody>
      </p:sp>
      <p:pic>
        <p:nvPicPr>
          <p:cNvPr descr="image.png" id="181" name="Google Shape;18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241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1527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5814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0100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438650"/>
            <a:ext cx="14287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8"/>
          <p:cNvSpPr txBox="1"/>
          <p:nvPr/>
        </p:nvSpPr>
        <p:spPr>
          <a:xfrm>
            <a:off x="571500" y="4762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Core Code Modules</a:t>
            </a:r>
            <a:endParaRPr/>
          </a:p>
        </p:txBody>
      </p:sp>
      <p:sp>
        <p:nvSpPr>
          <p:cNvPr id="187" name="Google Shape;187;p18"/>
          <p:cNvSpPr/>
          <p:nvPr/>
        </p:nvSpPr>
        <p:spPr>
          <a:xfrm>
            <a:off x="571500" y="1133475"/>
            <a:ext cx="11049000" cy="2857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2" name="Google Shape;19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014662"/>
            <a:ext cx="11049000" cy="15144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4" name="Google Shape;194;p19"/>
          <p:cNvGraphicFramePr/>
          <p:nvPr/>
        </p:nvGraphicFramePr>
        <p:xfrm>
          <a:off x="581025" y="302418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{D8FD95F5-062C-477F-8350-34269B709848}</a:tableStyleId>
              </a:tblPr>
              <a:tblGrid>
                <a:gridCol w="684300"/>
                <a:gridCol w="1934775"/>
                <a:gridCol w="894900"/>
                <a:gridCol w="1855725"/>
                <a:gridCol w="1500475"/>
                <a:gridCol w="1026625"/>
                <a:gridCol w="1566275"/>
                <a:gridCol w="1566850"/>
              </a:tblGrid>
              <a:tr h="498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ID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Patient Name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Age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Disease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Room No.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Days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Daily Rate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Med. Cost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498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Ram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Diabetes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304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₹2,120.00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₹2,210.00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98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Sam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Heart Disease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305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₹1,150.00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₹2,450.00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95" name="Google Shape;195;p19"/>
          <p:cNvSpPr/>
          <p:nvPr/>
        </p:nvSpPr>
        <p:spPr>
          <a:xfrm>
            <a:off x="581025" y="4010025"/>
            <a:ext cx="68431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9"/>
          <p:cNvSpPr/>
          <p:nvPr/>
        </p:nvSpPr>
        <p:spPr>
          <a:xfrm>
            <a:off x="1265336" y="4010025"/>
            <a:ext cx="193476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9"/>
          <p:cNvSpPr/>
          <p:nvPr/>
        </p:nvSpPr>
        <p:spPr>
          <a:xfrm>
            <a:off x="3200102" y="4010025"/>
            <a:ext cx="89490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9"/>
          <p:cNvSpPr/>
          <p:nvPr/>
        </p:nvSpPr>
        <p:spPr>
          <a:xfrm>
            <a:off x="4095005" y="4010025"/>
            <a:ext cx="18557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9"/>
          <p:cNvSpPr/>
          <p:nvPr/>
        </p:nvSpPr>
        <p:spPr>
          <a:xfrm>
            <a:off x="5950743" y="4010025"/>
            <a:ext cx="150048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9"/>
          <p:cNvSpPr/>
          <p:nvPr/>
        </p:nvSpPr>
        <p:spPr>
          <a:xfrm>
            <a:off x="7451228" y="4010025"/>
            <a:ext cx="102661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9"/>
          <p:cNvSpPr/>
          <p:nvPr/>
        </p:nvSpPr>
        <p:spPr>
          <a:xfrm>
            <a:off x="8477845" y="4010025"/>
            <a:ext cx="15662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9"/>
          <p:cNvSpPr/>
          <p:nvPr/>
        </p:nvSpPr>
        <p:spPr>
          <a:xfrm>
            <a:off x="10044112" y="4010025"/>
            <a:ext cx="15668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9"/>
          <p:cNvSpPr txBox="1"/>
          <p:nvPr/>
        </p:nvSpPr>
        <p:spPr>
          <a:xfrm>
            <a:off x="571500" y="4762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Sample Patient Dataset</a:t>
            </a:r>
            <a:endParaRPr/>
          </a:p>
        </p:txBody>
      </p:sp>
      <p:sp>
        <p:nvSpPr>
          <p:cNvPr id="204" name="Google Shape;204;p19"/>
          <p:cNvSpPr/>
          <p:nvPr/>
        </p:nvSpPr>
        <p:spPr>
          <a:xfrm>
            <a:off x="571500" y="1133475"/>
            <a:ext cx="11049000" cy="2857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9" name="Google Shape;20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85926"/>
            <a:ext cx="4419600" cy="1771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72100" y="3578721"/>
            <a:ext cx="6629400" cy="948183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0"/>
          <p:cNvSpPr txBox="1"/>
          <p:nvPr/>
        </p:nvSpPr>
        <p:spPr>
          <a:xfrm>
            <a:off x="952500" y="3266926"/>
            <a:ext cx="3657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100%</a:t>
            </a:r>
            <a:endParaRPr/>
          </a:p>
        </p:txBody>
      </p:sp>
      <p:sp>
        <p:nvSpPr>
          <p:cNvPr id="213" name="Google Shape;213;p20"/>
          <p:cNvSpPr txBox="1"/>
          <p:nvPr/>
        </p:nvSpPr>
        <p:spPr>
          <a:xfrm>
            <a:off x="952500" y="4047976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F2FE"/>
                </a:solidFill>
                <a:latin typeface="Inter Medium"/>
                <a:ea typeface="Inter Medium"/>
                <a:cs typeface="Inter Medium"/>
                <a:sym typeface="Inter Medium"/>
              </a:rPr>
              <a:t>Automated Computation</a:t>
            </a:r>
            <a:endParaRPr/>
          </a:p>
        </p:txBody>
      </p:sp>
      <p:sp>
        <p:nvSpPr>
          <p:cNvPr id="214" name="Google Shape;214;p20"/>
          <p:cNvSpPr txBox="1"/>
          <p:nvPr/>
        </p:nvSpPr>
        <p:spPr>
          <a:xfrm>
            <a:off x="5372100" y="2645271"/>
            <a:ext cx="68199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Financial Calculation Formula</a:t>
            </a:r>
            <a:endParaRPr/>
          </a:p>
        </p:txBody>
      </p:sp>
      <p:sp>
        <p:nvSpPr>
          <p:cNvPr id="215" name="Google Shape;215;p20"/>
          <p:cNvSpPr txBox="1"/>
          <p:nvPr/>
        </p:nvSpPr>
        <p:spPr>
          <a:xfrm>
            <a:off x="5372100" y="2921496"/>
            <a:ext cx="66294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The total bill amount for any admitted patient is calculated using the following mathematical formulation:</a:t>
            </a:r>
            <a:endParaRPr/>
          </a:p>
        </p:txBody>
      </p:sp>
      <p:sp>
        <p:nvSpPr>
          <p:cNvPr id="216" name="Google Shape;216;p20"/>
          <p:cNvSpPr txBox="1"/>
          <p:nvPr/>
        </p:nvSpPr>
        <p:spPr>
          <a:xfrm>
            <a:off x="5372100" y="4669780"/>
            <a:ext cx="6629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Example (Ram - ID 1):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(4 days × ₹2,120.00) + ₹2,210.00 = </a:t>
            </a: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₹10,690.00 Total</a:t>
            </a:r>
            <a:endParaRPr/>
          </a:p>
        </p:txBody>
      </p:sp>
      <p:sp>
        <p:nvSpPr>
          <p:cNvPr id="217" name="Google Shape;217;p20"/>
          <p:cNvSpPr txBox="1"/>
          <p:nvPr/>
        </p:nvSpPr>
        <p:spPr>
          <a:xfrm>
            <a:off x="5600700" y="3769221"/>
            <a:ext cx="621030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BILL COMPUTATION FORMULA:</a:t>
            </a:r>
            <a:endParaRPr/>
          </a:p>
        </p:txBody>
      </p:sp>
      <p:pic>
        <p:nvPicPr>
          <p:cNvPr descr="image.png" id="218" name="Google Shape;218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600700" y="4126408"/>
            <a:ext cx="3560415" cy="209996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0"/>
          <p:cNvSpPr txBox="1"/>
          <p:nvPr/>
        </p:nvSpPr>
        <p:spPr>
          <a:xfrm>
            <a:off x="571500" y="4762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Automated Billing Logic</a:t>
            </a:r>
            <a:endParaRPr/>
          </a:p>
        </p:txBody>
      </p:sp>
      <p:sp>
        <p:nvSpPr>
          <p:cNvPr id="220" name="Google Shape;220;p20"/>
          <p:cNvSpPr/>
          <p:nvPr/>
        </p:nvSpPr>
        <p:spPr>
          <a:xfrm>
            <a:off x="571500" y="1133475"/>
            <a:ext cx="11049000" cy="2857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5" name="Google Shape;22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19387"/>
            <a:ext cx="5334000" cy="2105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719387"/>
            <a:ext cx="5334000" cy="2105025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1"/>
          <p:cNvSpPr txBox="1"/>
          <p:nvPr/>
        </p:nvSpPr>
        <p:spPr>
          <a:xfrm>
            <a:off x="885825" y="3033712"/>
            <a:ext cx="494061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Zero-Dependency Persistence</a:t>
            </a:r>
            <a:endParaRPr/>
          </a:p>
        </p:txBody>
      </p:sp>
      <p:sp>
        <p:nvSpPr>
          <p:cNvPr id="229" name="Google Shape;229;p21"/>
          <p:cNvSpPr txBox="1"/>
          <p:nvPr/>
        </p:nvSpPr>
        <p:spPr>
          <a:xfrm>
            <a:off x="885825" y="3481387"/>
            <a:ext cx="470535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No requirement for external database drivers (e.g., MySQL, SQLite). Runs on pure C file stream mechanisms, making it portable and easy to run on any compiler environment.</a:t>
            </a:r>
            <a:endParaRPr/>
          </a:p>
        </p:txBody>
      </p:sp>
      <p:sp>
        <p:nvSpPr>
          <p:cNvPr id="230" name="Google Shape;230;p21"/>
          <p:cNvSpPr txBox="1"/>
          <p:nvPr/>
        </p:nvSpPr>
        <p:spPr>
          <a:xfrm>
            <a:off x="6600825" y="3033712"/>
            <a:ext cx="494061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Atomic File Updates</a:t>
            </a:r>
            <a:endParaRPr/>
          </a:p>
        </p:txBody>
      </p:sp>
      <p:sp>
        <p:nvSpPr>
          <p:cNvPr id="231" name="Google Shape;231;p21"/>
          <p:cNvSpPr txBox="1"/>
          <p:nvPr/>
        </p:nvSpPr>
        <p:spPr>
          <a:xfrm>
            <a:off x="6600825" y="3481387"/>
            <a:ext cx="470535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Prevents file corruption during update procedures by staging temporary entries into `temp.txt` before executing atomic `remove()` and `rename()` C file operations.</a:t>
            </a:r>
            <a:endParaRPr/>
          </a:p>
        </p:txBody>
      </p:sp>
      <p:pic>
        <p:nvPicPr>
          <p:cNvPr descr="image.png" id="232" name="Google Shape;232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5825" y="3081337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00825" y="3081337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1"/>
          <p:cNvSpPr txBox="1"/>
          <p:nvPr/>
        </p:nvSpPr>
        <p:spPr>
          <a:xfrm>
            <a:off x="571500" y="4762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Technical Advantages</a:t>
            </a:r>
            <a:endParaRPr/>
          </a:p>
        </p:txBody>
      </p:sp>
      <p:sp>
        <p:nvSpPr>
          <p:cNvPr id="235" name="Google Shape;235;p21"/>
          <p:cNvSpPr/>
          <p:nvPr/>
        </p:nvSpPr>
        <p:spPr>
          <a:xfrm>
            <a:off x="571500" y="1133475"/>
            <a:ext cx="11049000" cy="2857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0" name="Google Shape;24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010025"/>
            <a:ext cx="2541240" cy="1276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07419" y="2457450"/>
            <a:ext cx="2541240" cy="1076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43339" y="4010025"/>
            <a:ext cx="2541240" cy="1276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4" name="Google Shape;244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79259" y="2457450"/>
            <a:ext cx="2541240" cy="1076325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2"/>
          <p:cNvSpPr/>
          <p:nvPr/>
        </p:nvSpPr>
        <p:spPr>
          <a:xfrm>
            <a:off x="571500" y="3752850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2"/>
          <p:cNvSpPr txBox="1"/>
          <p:nvPr/>
        </p:nvSpPr>
        <p:spPr>
          <a:xfrm>
            <a:off x="697992" y="4191000"/>
            <a:ext cx="2288254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Phase 1</a:t>
            </a:r>
            <a:endParaRPr/>
          </a:p>
        </p:txBody>
      </p:sp>
      <p:sp>
        <p:nvSpPr>
          <p:cNvPr id="247" name="Google Shape;247;p22"/>
          <p:cNvSpPr txBox="1"/>
          <p:nvPr/>
        </p:nvSpPr>
        <p:spPr>
          <a:xfrm>
            <a:off x="752475" y="4505325"/>
            <a:ext cx="217929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Requirements gathering &amp; data structure definition (`struct Patient`).</a:t>
            </a:r>
            <a:endParaRPr/>
          </a:p>
        </p:txBody>
      </p:sp>
      <p:sp>
        <p:nvSpPr>
          <p:cNvPr id="248" name="Google Shape;248;p22"/>
          <p:cNvSpPr txBox="1"/>
          <p:nvPr/>
        </p:nvSpPr>
        <p:spPr>
          <a:xfrm>
            <a:off x="3533912" y="2638425"/>
            <a:ext cx="2288254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Phase 2</a:t>
            </a:r>
            <a:endParaRPr/>
          </a:p>
        </p:txBody>
      </p:sp>
      <p:sp>
        <p:nvSpPr>
          <p:cNvPr id="249" name="Google Shape;249;p22"/>
          <p:cNvSpPr txBox="1"/>
          <p:nvPr/>
        </p:nvSpPr>
        <p:spPr>
          <a:xfrm>
            <a:off x="3588394" y="2952750"/>
            <a:ext cx="217929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File I/O programming (Add, Search, Display records).</a:t>
            </a:r>
            <a:endParaRPr/>
          </a:p>
        </p:txBody>
      </p:sp>
      <p:sp>
        <p:nvSpPr>
          <p:cNvPr id="250" name="Google Shape;250;p22"/>
          <p:cNvSpPr txBox="1"/>
          <p:nvPr/>
        </p:nvSpPr>
        <p:spPr>
          <a:xfrm>
            <a:off x="6369832" y="4191000"/>
            <a:ext cx="2288254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Phase 3</a:t>
            </a:r>
            <a:endParaRPr/>
          </a:p>
        </p:txBody>
      </p:sp>
      <p:sp>
        <p:nvSpPr>
          <p:cNvPr id="251" name="Google Shape;251;p22"/>
          <p:cNvSpPr txBox="1"/>
          <p:nvPr/>
        </p:nvSpPr>
        <p:spPr>
          <a:xfrm>
            <a:off x="6424314" y="4505325"/>
            <a:ext cx="217929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Update routine (`temp.txt`) &amp; automated billing engine development.</a:t>
            </a:r>
            <a:endParaRPr/>
          </a:p>
        </p:txBody>
      </p:sp>
      <p:sp>
        <p:nvSpPr>
          <p:cNvPr id="252" name="Google Shape;252;p22"/>
          <p:cNvSpPr txBox="1"/>
          <p:nvPr/>
        </p:nvSpPr>
        <p:spPr>
          <a:xfrm>
            <a:off x="9205752" y="2638425"/>
            <a:ext cx="2288254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Phase 4</a:t>
            </a:r>
            <a:endParaRPr/>
          </a:p>
        </p:txBody>
      </p:sp>
      <p:sp>
        <p:nvSpPr>
          <p:cNvPr id="253" name="Google Shape;253;p22"/>
          <p:cNvSpPr txBox="1"/>
          <p:nvPr/>
        </p:nvSpPr>
        <p:spPr>
          <a:xfrm>
            <a:off x="9260234" y="2952750"/>
            <a:ext cx="217929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System testing, sample dataset verification &amp; optimization.</a:t>
            </a:r>
            <a:endParaRPr/>
          </a:p>
        </p:txBody>
      </p:sp>
      <p:sp>
        <p:nvSpPr>
          <p:cNvPr id="254" name="Google Shape;254;p22"/>
          <p:cNvSpPr txBox="1"/>
          <p:nvPr/>
        </p:nvSpPr>
        <p:spPr>
          <a:xfrm>
            <a:off x="571500" y="4762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Development Roadmap</a:t>
            </a:r>
            <a:endParaRPr/>
          </a:p>
        </p:txBody>
      </p:sp>
      <p:sp>
        <p:nvSpPr>
          <p:cNvPr id="255" name="Google Shape;255;p22"/>
          <p:cNvSpPr/>
          <p:nvPr/>
        </p:nvSpPr>
        <p:spPr>
          <a:xfrm>
            <a:off x="571500" y="1133475"/>
            <a:ext cx="11049000" cy="2857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2"/>
          <p:cNvSpPr/>
          <p:nvPr/>
        </p:nvSpPr>
        <p:spPr>
          <a:xfrm>
            <a:off x="1746870" y="367665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0284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2"/>
          <p:cNvSpPr/>
          <p:nvPr/>
        </p:nvSpPr>
        <p:spPr>
          <a:xfrm>
            <a:off x="4582790" y="367665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0284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2"/>
          <p:cNvSpPr/>
          <p:nvPr/>
        </p:nvSpPr>
        <p:spPr>
          <a:xfrm>
            <a:off x="7418709" y="367665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0284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2"/>
          <p:cNvSpPr/>
          <p:nvPr/>
        </p:nvSpPr>
        <p:spPr>
          <a:xfrm>
            <a:off x="10254629" y="367665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0284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4" name="Google Shape;26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3"/>
          <p:cNvSpPr txBox="1"/>
          <p:nvPr/>
        </p:nvSpPr>
        <p:spPr>
          <a:xfrm>
            <a:off x="295275" y="476250"/>
            <a:ext cx="1160145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Thank You!</a:t>
            </a:r>
            <a:endParaRPr/>
          </a:p>
        </p:txBody>
      </p:sp>
      <p:sp>
        <p:nvSpPr>
          <p:cNvPr id="266" name="Google Shape;266;p23"/>
          <p:cNvSpPr txBox="1"/>
          <p:nvPr/>
        </p:nvSpPr>
        <p:spPr>
          <a:xfrm>
            <a:off x="571500" y="1647825"/>
            <a:ext cx="11049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Hospital Patient Management System in C</a:t>
            </a:r>
            <a:endParaRPr/>
          </a:p>
        </p:txBody>
      </p:sp>
      <p:sp>
        <p:nvSpPr>
          <p:cNvPr id="267" name="Google Shape;267;p23"/>
          <p:cNvSpPr txBox="1"/>
          <p:nvPr/>
        </p:nvSpPr>
        <p:spPr>
          <a:xfrm>
            <a:off x="571500" y="2371725"/>
            <a:ext cx="11049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Naren Karthick G | Madhan Kumar Y | Grascy Jennifer J R | Keerthika B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2" name="Google Shape;27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4"/>
          <p:cNvSpPr/>
          <p:nvPr/>
        </p:nvSpPr>
        <p:spPr>
          <a:xfrm>
            <a:off x="1647825" y="3005137"/>
            <a:ext cx="88963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4"/>
          <p:cNvSpPr/>
          <p:nvPr/>
        </p:nvSpPr>
        <p:spPr>
          <a:xfrm>
            <a:off x="1647825" y="3767137"/>
            <a:ext cx="88963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4"/>
          <p:cNvSpPr/>
          <p:nvPr/>
        </p:nvSpPr>
        <p:spPr>
          <a:xfrm>
            <a:off x="1647825" y="3767137"/>
            <a:ext cx="88963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76" name="Google Shape;276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47825" y="314801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4"/>
          <p:cNvSpPr txBox="1"/>
          <p:nvPr/>
        </p:nvSpPr>
        <p:spPr>
          <a:xfrm>
            <a:off x="2743200" y="3155156"/>
            <a:ext cx="780097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https://media.easy-peasy.ai/49d0625e-396e-480c-a4ed-859d1ca32a5a/96f651e1-aeeb-40fe-bde9-a1e784584c71_medium.webp</a:t>
            </a:r>
            <a:endParaRPr/>
          </a:p>
        </p:txBody>
      </p:sp>
      <p:sp>
        <p:nvSpPr>
          <p:cNvPr id="278" name="Google Shape;278;p24"/>
          <p:cNvSpPr txBox="1"/>
          <p:nvPr/>
        </p:nvSpPr>
        <p:spPr>
          <a:xfrm>
            <a:off x="2743200" y="3388518"/>
            <a:ext cx="78009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easy-peasy.ai</a:t>
            </a:r>
            <a:endParaRPr/>
          </a:p>
        </p:txBody>
      </p:sp>
      <p:pic>
        <p:nvPicPr>
          <p:cNvPr descr="image.png" id="279" name="Google Shape;279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47825" y="391953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4"/>
          <p:cNvSpPr txBox="1"/>
          <p:nvPr/>
        </p:nvSpPr>
        <p:spPr>
          <a:xfrm>
            <a:off x="2743200" y="3926681"/>
            <a:ext cx="780097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https://d2nzy1qhita6w.cloudfront.net/media/magefan_blog/Beginner-learning-C-programming-in-10-days-with-a-coding_guide.jpeg</a:t>
            </a:r>
            <a:endParaRPr/>
          </a:p>
        </p:txBody>
      </p:sp>
      <p:sp>
        <p:nvSpPr>
          <p:cNvPr id="281" name="Google Shape;281;p24"/>
          <p:cNvSpPr txBox="1"/>
          <p:nvPr/>
        </p:nvSpPr>
        <p:spPr>
          <a:xfrm>
            <a:off x="2743200" y="4160043"/>
            <a:ext cx="78009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www.quickstart.com</a:t>
            </a:r>
            <a:endParaRPr/>
          </a:p>
        </p:txBody>
      </p:sp>
      <p:sp>
        <p:nvSpPr>
          <p:cNvPr id="282" name="Google Shape;282;p24"/>
          <p:cNvSpPr txBox="1"/>
          <p:nvPr/>
        </p:nvSpPr>
        <p:spPr>
          <a:xfrm>
            <a:off x="571500" y="4762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  <p:sp>
        <p:nvSpPr>
          <p:cNvPr id="283" name="Google Shape;283;p24"/>
          <p:cNvSpPr/>
          <p:nvPr/>
        </p:nvSpPr>
        <p:spPr>
          <a:xfrm>
            <a:off x="571500" y="1133475"/>
            <a:ext cx="11049000" cy="2857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